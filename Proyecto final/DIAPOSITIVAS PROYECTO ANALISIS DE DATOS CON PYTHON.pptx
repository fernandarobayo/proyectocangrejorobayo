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60" r:id="rId3"/>
    <p:sldId id="263" r:id="rId4"/>
    <p:sldId id="261" r:id="rId5"/>
    <p:sldId id="264" r:id="rId6"/>
    <p:sldId id="265" r:id="rId7"/>
    <p:sldId id="266" r:id="rId8"/>
    <p:sldId id="267" r:id="rId9"/>
  </p:sldIdLst>
  <p:sldSz cx="12193588" cy="6858000"/>
  <p:notesSz cx="6858000" cy="9144000"/>
  <p:defaultTextStyle>
    <a:defPPr>
      <a:defRPr lang="es-ES"/>
    </a:defPPr>
    <a:lvl1pPr marL="0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1pPr>
    <a:lvl2pPr marL="562198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2pPr>
    <a:lvl3pPr marL="1124395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3pPr>
    <a:lvl4pPr marL="1686592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4pPr>
    <a:lvl5pPr marL="2248788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5pPr>
    <a:lvl6pPr marL="2810986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6pPr>
    <a:lvl7pPr marL="3373183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7pPr>
    <a:lvl8pPr marL="3935381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8pPr>
    <a:lvl9pPr marL="4497579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6"/>
    <p:restoredTop sz="94666"/>
  </p:normalViewPr>
  <p:slideViewPr>
    <p:cSldViewPr snapToGrid="0" snapToObjects="1">
      <p:cViewPr varScale="1">
        <p:scale>
          <a:sx n="78" d="100"/>
          <a:sy n="78" d="100"/>
        </p:scale>
        <p:origin x="950" y="62"/>
      </p:cViewPr>
      <p:guideLst>
        <p:guide orient="horz" pos="2161"/>
        <p:guide pos="3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B01D-0969-44BF-991A-8F08111596F2}" type="datetimeFigureOut">
              <a:rPr lang="es-CO" smtClean="0"/>
              <a:t>14/12/2025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08985-138A-4CBB-AD54-DCB8779EB5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9485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B08DA41-61FB-244B-A279-91BD97CDB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94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1D69CAD-EBB2-5A42-989F-E9AE1EEBA9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33" y="0"/>
            <a:ext cx="12180722" cy="6858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9BFE3CA-17F0-3E42-92B0-C63C49C949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261" y="1388"/>
            <a:ext cx="12187066" cy="685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211" y="4406902"/>
            <a:ext cx="10364550" cy="1362075"/>
          </a:xfrm>
          <a:prstGeom prst="rect">
            <a:avLst/>
          </a:prstGeom>
        </p:spPr>
        <p:txBody>
          <a:bodyPr anchor="t"/>
          <a:lstStyle>
            <a:lvl1pPr algn="l">
              <a:defRPr sz="4819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211" y="2906715"/>
            <a:ext cx="1036455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44">
                <a:solidFill>
                  <a:schemeClr val="tx1">
                    <a:tint val="75000"/>
                  </a:schemeClr>
                </a:solidFill>
              </a:defRPr>
            </a:lvl1pPr>
            <a:lvl2pPr marL="549164" indent="0">
              <a:buNone/>
              <a:defRPr sz="2214">
                <a:solidFill>
                  <a:schemeClr val="tx1">
                    <a:tint val="75000"/>
                  </a:schemeClr>
                </a:solidFill>
              </a:defRPr>
            </a:lvl2pPr>
            <a:lvl3pPr marL="1098327" indent="0">
              <a:buNone/>
              <a:defRPr sz="1954">
                <a:solidFill>
                  <a:schemeClr val="tx1">
                    <a:tint val="75000"/>
                  </a:schemeClr>
                </a:solidFill>
              </a:defRPr>
            </a:lvl3pPr>
            <a:lvl4pPr marL="164749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219665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745817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329498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844144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439330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319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79" y="1600200"/>
            <a:ext cx="5385501" cy="4525963"/>
          </a:xfrm>
          <a:prstGeom prst="rect">
            <a:avLst/>
          </a:prstGeom>
        </p:spPr>
        <p:txBody>
          <a:bodyPr/>
          <a:lstStyle>
            <a:lvl1pPr>
              <a:defRPr sz="3387"/>
            </a:lvl1pPr>
            <a:lvl2pPr>
              <a:defRPr sz="2865"/>
            </a:lvl2pPr>
            <a:lvl3pPr>
              <a:defRPr sz="2344"/>
            </a:lvl3pPr>
            <a:lvl4pPr>
              <a:defRPr sz="2214"/>
            </a:lvl4pPr>
            <a:lvl5pPr>
              <a:defRPr sz="2214"/>
            </a:lvl5pPr>
            <a:lvl6pPr>
              <a:defRPr sz="2214"/>
            </a:lvl6pPr>
            <a:lvl7pPr>
              <a:defRPr sz="2214"/>
            </a:lvl7pPr>
            <a:lvl8pPr>
              <a:defRPr sz="2214"/>
            </a:lvl8pPr>
            <a:lvl9pPr>
              <a:defRPr sz="221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8409" y="1600200"/>
            <a:ext cx="5385501" cy="4525963"/>
          </a:xfrm>
          <a:prstGeom prst="rect">
            <a:avLst/>
          </a:prstGeom>
        </p:spPr>
        <p:txBody>
          <a:bodyPr/>
          <a:lstStyle>
            <a:lvl1pPr>
              <a:defRPr sz="3387"/>
            </a:lvl1pPr>
            <a:lvl2pPr>
              <a:defRPr sz="2865"/>
            </a:lvl2pPr>
            <a:lvl3pPr>
              <a:defRPr sz="2344"/>
            </a:lvl3pPr>
            <a:lvl4pPr>
              <a:defRPr sz="2214"/>
            </a:lvl4pPr>
            <a:lvl5pPr>
              <a:defRPr sz="2214"/>
            </a:lvl5pPr>
            <a:lvl6pPr>
              <a:defRPr sz="2214"/>
            </a:lvl6pPr>
            <a:lvl7pPr>
              <a:defRPr sz="2214"/>
            </a:lvl7pPr>
            <a:lvl8pPr>
              <a:defRPr sz="2214"/>
            </a:lvl8pPr>
            <a:lvl9pPr>
              <a:defRPr sz="221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3460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79" y="1535113"/>
            <a:ext cx="538761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65" b="1"/>
            </a:lvl1pPr>
            <a:lvl2pPr marL="549164" indent="0">
              <a:buNone/>
              <a:defRPr sz="2344" b="1"/>
            </a:lvl2pPr>
            <a:lvl3pPr marL="1098327" indent="0">
              <a:buNone/>
              <a:defRPr sz="2214" b="1"/>
            </a:lvl3pPr>
            <a:lvl4pPr marL="1647491" indent="0">
              <a:buNone/>
              <a:defRPr sz="1954" b="1"/>
            </a:lvl4pPr>
            <a:lvl5pPr marL="2196653" indent="0">
              <a:buNone/>
              <a:defRPr sz="1954" b="1"/>
            </a:lvl5pPr>
            <a:lvl6pPr marL="2745817" indent="0">
              <a:buNone/>
              <a:defRPr sz="1954" b="1"/>
            </a:lvl6pPr>
            <a:lvl7pPr marL="3294981" indent="0">
              <a:buNone/>
              <a:defRPr sz="1954" b="1"/>
            </a:lvl7pPr>
            <a:lvl8pPr marL="3844144" indent="0">
              <a:buNone/>
              <a:defRPr sz="1954" b="1"/>
            </a:lvl8pPr>
            <a:lvl9pPr marL="4393308" indent="0">
              <a:buNone/>
              <a:defRPr sz="1954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79" y="2174876"/>
            <a:ext cx="5387619" cy="3951288"/>
          </a:xfrm>
          <a:prstGeom prst="rect">
            <a:avLst/>
          </a:prstGeom>
        </p:spPr>
        <p:txBody>
          <a:bodyPr/>
          <a:lstStyle>
            <a:lvl1pPr>
              <a:defRPr sz="2865"/>
            </a:lvl1pPr>
            <a:lvl2pPr>
              <a:defRPr sz="2344"/>
            </a:lvl2pPr>
            <a:lvl3pPr>
              <a:defRPr sz="221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4176" y="1535113"/>
            <a:ext cx="538973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65" b="1"/>
            </a:lvl1pPr>
            <a:lvl2pPr marL="549164" indent="0">
              <a:buNone/>
              <a:defRPr sz="2344" b="1"/>
            </a:lvl2pPr>
            <a:lvl3pPr marL="1098327" indent="0">
              <a:buNone/>
              <a:defRPr sz="2214" b="1"/>
            </a:lvl3pPr>
            <a:lvl4pPr marL="1647491" indent="0">
              <a:buNone/>
              <a:defRPr sz="1954" b="1"/>
            </a:lvl4pPr>
            <a:lvl5pPr marL="2196653" indent="0">
              <a:buNone/>
              <a:defRPr sz="1954" b="1"/>
            </a:lvl5pPr>
            <a:lvl6pPr marL="2745817" indent="0">
              <a:buNone/>
              <a:defRPr sz="1954" b="1"/>
            </a:lvl6pPr>
            <a:lvl7pPr marL="3294981" indent="0">
              <a:buNone/>
              <a:defRPr sz="1954" b="1"/>
            </a:lvl7pPr>
            <a:lvl8pPr marL="3844144" indent="0">
              <a:buNone/>
              <a:defRPr sz="1954" b="1"/>
            </a:lvl8pPr>
            <a:lvl9pPr marL="4393308" indent="0">
              <a:buNone/>
              <a:defRPr sz="1954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4176" y="2174876"/>
            <a:ext cx="5389735" cy="3951288"/>
          </a:xfrm>
          <a:prstGeom prst="rect">
            <a:avLst/>
          </a:prstGeom>
        </p:spPr>
        <p:txBody>
          <a:bodyPr/>
          <a:lstStyle>
            <a:lvl1pPr>
              <a:defRPr sz="2865"/>
            </a:lvl1pPr>
            <a:lvl2pPr>
              <a:defRPr sz="2344"/>
            </a:lvl2pPr>
            <a:lvl3pPr>
              <a:defRPr sz="221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7240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400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236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2" y="273051"/>
            <a:ext cx="4011605" cy="1162049"/>
          </a:xfrm>
          <a:prstGeom prst="rect">
            <a:avLst/>
          </a:prstGeom>
        </p:spPr>
        <p:txBody>
          <a:bodyPr anchor="b"/>
          <a:lstStyle>
            <a:lvl1pPr algn="l">
              <a:defRPr sz="2344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67355" y="273051"/>
            <a:ext cx="6816554" cy="5853113"/>
          </a:xfrm>
          <a:prstGeom prst="rect">
            <a:avLst/>
          </a:prstGeom>
        </p:spPr>
        <p:txBody>
          <a:bodyPr/>
          <a:lstStyle>
            <a:lvl1pPr>
              <a:defRPr sz="3907"/>
            </a:lvl1pPr>
            <a:lvl2pPr>
              <a:defRPr sz="3387"/>
            </a:lvl2pPr>
            <a:lvl3pPr>
              <a:defRPr sz="2865"/>
            </a:lvl3pPr>
            <a:lvl4pPr>
              <a:defRPr sz="2344"/>
            </a:lvl4pPr>
            <a:lvl5pPr>
              <a:defRPr sz="2344"/>
            </a:lvl5pPr>
            <a:lvl6pPr>
              <a:defRPr sz="2344"/>
            </a:lvl6pPr>
            <a:lvl7pPr>
              <a:defRPr sz="2344"/>
            </a:lvl7pPr>
            <a:lvl8pPr>
              <a:defRPr sz="2344"/>
            </a:lvl8pPr>
            <a:lvl9pPr>
              <a:defRPr sz="234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9682" y="1435102"/>
            <a:ext cx="4011605" cy="4691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3"/>
            </a:lvl1pPr>
            <a:lvl2pPr marL="549164" indent="0">
              <a:buNone/>
              <a:defRPr sz="1433"/>
            </a:lvl2pPr>
            <a:lvl3pPr marL="1098327" indent="0">
              <a:buNone/>
              <a:defRPr sz="1172"/>
            </a:lvl3pPr>
            <a:lvl4pPr marL="1647491" indent="0">
              <a:buNone/>
              <a:defRPr sz="1042"/>
            </a:lvl4pPr>
            <a:lvl5pPr marL="2196653" indent="0">
              <a:buNone/>
              <a:defRPr sz="1042"/>
            </a:lvl5pPr>
            <a:lvl6pPr marL="2745817" indent="0">
              <a:buNone/>
              <a:defRPr sz="1042"/>
            </a:lvl6pPr>
            <a:lvl7pPr marL="3294981" indent="0">
              <a:buNone/>
              <a:defRPr sz="1042"/>
            </a:lvl7pPr>
            <a:lvl8pPr marL="3844144" indent="0">
              <a:buNone/>
              <a:defRPr sz="1042"/>
            </a:lvl8pPr>
            <a:lvl9pPr marL="4393308" indent="0">
              <a:buNone/>
              <a:defRPr sz="10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74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90029" y="4800599"/>
            <a:ext cx="7316153" cy="566739"/>
          </a:xfrm>
          <a:prstGeom prst="rect">
            <a:avLst/>
          </a:prstGeom>
        </p:spPr>
        <p:txBody>
          <a:bodyPr anchor="b"/>
          <a:lstStyle>
            <a:lvl1pPr algn="l">
              <a:defRPr sz="2344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90029" y="612777"/>
            <a:ext cx="731615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07"/>
            </a:lvl1pPr>
            <a:lvl2pPr marL="549164" indent="0">
              <a:buNone/>
              <a:defRPr sz="3387"/>
            </a:lvl2pPr>
            <a:lvl3pPr marL="1098327" indent="0">
              <a:buNone/>
              <a:defRPr sz="2865"/>
            </a:lvl3pPr>
            <a:lvl4pPr marL="1647491" indent="0">
              <a:buNone/>
              <a:defRPr sz="2344"/>
            </a:lvl4pPr>
            <a:lvl5pPr marL="2196653" indent="0">
              <a:buNone/>
              <a:defRPr sz="2344"/>
            </a:lvl5pPr>
            <a:lvl6pPr marL="2745817" indent="0">
              <a:buNone/>
              <a:defRPr sz="2344"/>
            </a:lvl6pPr>
            <a:lvl7pPr marL="3294981" indent="0">
              <a:buNone/>
              <a:defRPr sz="2344"/>
            </a:lvl7pPr>
            <a:lvl8pPr marL="3844144" indent="0">
              <a:buNone/>
              <a:defRPr sz="2344"/>
            </a:lvl8pPr>
            <a:lvl9pPr marL="4393308" indent="0">
              <a:buNone/>
              <a:defRPr sz="2344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90029" y="5367339"/>
            <a:ext cx="7316153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3"/>
            </a:lvl1pPr>
            <a:lvl2pPr marL="549164" indent="0">
              <a:buNone/>
              <a:defRPr sz="1433"/>
            </a:lvl2pPr>
            <a:lvl3pPr marL="1098327" indent="0">
              <a:buNone/>
              <a:defRPr sz="1172"/>
            </a:lvl3pPr>
            <a:lvl4pPr marL="1647491" indent="0">
              <a:buNone/>
              <a:defRPr sz="1042"/>
            </a:lvl4pPr>
            <a:lvl5pPr marL="2196653" indent="0">
              <a:buNone/>
              <a:defRPr sz="1042"/>
            </a:lvl5pPr>
            <a:lvl6pPr marL="2745817" indent="0">
              <a:buNone/>
              <a:defRPr sz="1042"/>
            </a:lvl6pPr>
            <a:lvl7pPr marL="3294981" indent="0">
              <a:buNone/>
              <a:defRPr sz="1042"/>
            </a:lvl7pPr>
            <a:lvl8pPr marL="3844144" indent="0">
              <a:buNone/>
              <a:defRPr sz="1042"/>
            </a:lvl8pPr>
            <a:lvl9pPr marL="4393308" indent="0">
              <a:buNone/>
              <a:defRPr sz="10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969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81" y="1600200"/>
            <a:ext cx="1097423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727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40352" y="274638"/>
            <a:ext cx="2743557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80" y="274638"/>
            <a:ext cx="8027446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14/12/2025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120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E719049-0792-3C47-8B7F-6A2B8796E36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61" y="0"/>
            <a:ext cx="12187066" cy="685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83BDCB3-BDA9-9F48-A911-03AD84A9103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6433" y="3172"/>
            <a:ext cx="12180722" cy="68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64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49164" rtl="0" eaLnBrk="1" latinLnBrk="0" hangingPunct="1">
        <a:spcBef>
          <a:spcPct val="0"/>
        </a:spcBef>
        <a:buNone/>
        <a:defRPr sz="53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872" indent="-411872" algn="l" defTabSz="549164" rtl="0" eaLnBrk="1" latinLnBrk="0" hangingPunct="1">
        <a:spcBef>
          <a:spcPct val="20000"/>
        </a:spcBef>
        <a:buFont typeface="Arial"/>
        <a:buChar char="•"/>
        <a:defRPr sz="3907" kern="1200">
          <a:solidFill>
            <a:schemeClr val="tx1"/>
          </a:solidFill>
          <a:latin typeface="+mn-lt"/>
          <a:ea typeface="+mn-ea"/>
          <a:cs typeface="+mn-cs"/>
        </a:defRPr>
      </a:lvl1pPr>
      <a:lvl2pPr marL="892390" indent="-343228" algn="l" defTabSz="549164" rtl="0" eaLnBrk="1" latinLnBrk="0" hangingPunct="1">
        <a:spcBef>
          <a:spcPct val="20000"/>
        </a:spcBef>
        <a:buFont typeface="Arial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2909" indent="-274582" algn="l" defTabSz="549164" rtl="0" eaLnBrk="1" latinLnBrk="0" hangingPunct="1">
        <a:spcBef>
          <a:spcPct val="20000"/>
        </a:spcBef>
        <a:buFont typeface="Arial"/>
        <a:buChar char="•"/>
        <a:defRPr sz="2865" kern="1200">
          <a:solidFill>
            <a:schemeClr val="tx1"/>
          </a:solidFill>
          <a:latin typeface="+mn-lt"/>
          <a:ea typeface="+mn-ea"/>
          <a:cs typeface="+mn-cs"/>
        </a:defRPr>
      </a:lvl3pPr>
      <a:lvl4pPr marL="1922071" indent="-274582" algn="l" defTabSz="549164" rtl="0" eaLnBrk="1" latinLnBrk="0" hangingPunct="1">
        <a:spcBef>
          <a:spcPct val="20000"/>
        </a:spcBef>
        <a:buFont typeface="Arial"/>
        <a:buChar char="–"/>
        <a:defRPr sz="2344" kern="1200">
          <a:solidFill>
            <a:schemeClr val="tx1"/>
          </a:solidFill>
          <a:latin typeface="+mn-lt"/>
          <a:ea typeface="+mn-ea"/>
          <a:cs typeface="+mn-cs"/>
        </a:defRPr>
      </a:lvl4pPr>
      <a:lvl5pPr marL="2471236" indent="-274582" algn="l" defTabSz="549164" rtl="0" eaLnBrk="1" latinLnBrk="0" hangingPunct="1">
        <a:spcBef>
          <a:spcPct val="20000"/>
        </a:spcBef>
        <a:buFont typeface="Arial"/>
        <a:buChar char="»"/>
        <a:defRPr sz="2344" kern="1200">
          <a:solidFill>
            <a:schemeClr val="tx1"/>
          </a:solidFill>
          <a:latin typeface="+mn-lt"/>
          <a:ea typeface="+mn-ea"/>
          <a:cs typeface="+mn-cs"/>
        </a:defRPr>
      </a:lvl5pPr>
      <a:lvl6pPr marL="3020399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6pPr>
      <a:lvl7pPr marL="3569563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7pPr>
      <a:lvl8pPr marL="4118726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8pPr>
      <a:lvl9pPr marL="4667890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1pPr>
      <a:lvl2pPr marL="549164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2pPr>
      <a:lvl3pPr marL="1098327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3pPr>
      <a:lvl4pPr marL="1647491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4pPr>
      <a:lvl5pPr marL="2196653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5pPr>
      <a:lvl6pPr marL="2745817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6pPr>
      <a:lvl7pPr marL="3294981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7pPr>
      <a:lvl8pPr marL="3844144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8pPr>
      <a:lvl9pPr marL="4393308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8F8D95A-495F-6EB3-91E6-615BDFCAE592}"/>
              </a:ext>
            </a:extLst>
          </p:cNvPr>
          <p:cNvSpPr txBox="1"/>
          <p:nvPr/>
        </p:nvSpPr>
        <p:spPr>
          <a:xfrm>
            <a:off x="275304" y="581504"/>
            <a:ext cx="4493341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O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O" sz="2000" b="1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Análisis Predictivo Precios De Vivienda En Boston</a:t>
            </a:r>
          </a:p>
          <a:p>
            <a:pPr algn="ctr"/>
            <a:endParaRPr lang="es-CO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ctr"/>
            <a:endParaRPr lang="es-CO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ctr"/>
            <a:r>
              <a:rPr lang="es-CO" sz="2000" b="1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María Fernanda Robayo Laguna </a:t>
            </a:r>
          </a:p>
          <a:p>
            <a:pPr algn="ctr"/>
            <a:r>
              <a:rPr lang="es-CO" sz="2000" b="1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Laura Sofia Cangrejo </a:t>
            </a:r>
            <a:r>
              <a:rPr lang="es-CO" sz="2000" b="1" dirty="0" err="1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Perafan</a:t>
            </a:r>
            <a:endParaRPr lang="es-CO" sz="2000" b="1" dirty="0">
              <a:solidFill>
                <a:schemeClr val="bg1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endParaRPr lang="es-CO" sz="2000" b="1" dirty="0">
              <a:solidFill>
                <a:schemeClr val="bg1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O" sz="2000" b="1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Facultad De Ingeniería</a:t>
            </a:r>
          </a:p>
          <a:p>
            <a:pPr algn="ctr"/>
            <a:endParaRPr lang="es-CO" sz="2000" b="1" dirty="0">
              <a:solidFill>
                <a:schemeClr val="bg1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O" sz="2000" b="1" dirty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Ingeniería De Sistemas</a:t>
            </a:r>
          </a:p>
          <a:p>
            <a:pPr algn="ctr"/>
            <a:endParaRPr lang="es-CO" sz="1800" dirty="0">
              <a:solidFill>
                <a:schemeClr val="bg1"/>
              </a:solidFill>
            </a:endParaRPr>
          </a:p>
          <a:p>
            <a:pPr algn="ctr"/>
            <a:endParaRPr lang="es-CO" sz="1800" dirty="0">
              <a:solidFill>
                <a:schemeClr val="bg1"/>
              </a:solidFill>
            </a:endParaRPr>
          </a:p>
          <a:p>
            <a:pPr algn="ctr"/>
            <a:endParaRPr lang="es-CO" sz="1800" dirty="0">
              <a:solidFill>
                <a:schemeClr val="bg1"/>
              </a:solidFill>
            </a:endParaRPr>
          </a:p>
          <a:p>
            <a:pPr algn="ctr"/>
            <a:endParaRPr lang="es-CO" sz="1800" dirty="0">
              <a:solidFill>
                <a:schemeClr val="bg1"/>
              </a:solidFill>
            </a:endParaRPr>
          </a:p>
          <a:p>
            <a:pPr algn="ctr"/>
            <a:endParaRPr lang="es-CO" sz="1800" dirty="0">
              <a:solidFill>
                <a:schemeClr val="bg1"/>
              </a:solidFill>
            </a:endParaRPr>
          </a:p>
          <a:p>
            <a:pPr algn="ctr"/>
            <a:endParaRPr lang="es-CO" sz="1800" dirty="0">
              <a:solidFill>
                <a:schemeClr val="bg1"/>
              </a:solidFill>
            </a:endParaRPr>
          </a:p>
          <a:p>
            <a:pPr algn="ctr"/>
            <a:endParaRPr lang="es-CO" sz="1800" dirty="0">
              <a:solidFill>
                <a:schemeClr val="bg1"/>
              </a:solidFill>
            </a:endParaRPr>
          </a:p>
          <a:p>
            <a:pPr algn="ctr"/>
            <a:r>
              <a:rPr lang="es-CO" sz="1800" dirty="0">
                <a:solidFill>
                  <a:schemeClr val="bg1"/>
                </a:solidFill>
              </a:rPr>
              <a:t> </a:t>
            </a:r>
          </a:p>
          <a:p>
            <a:pPr algn="ctr"/>
            <a:endParaRPr lang="es-CO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9E47F8-7AEB-F141-D331-44211633E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749" y="581504"/>
            <a:ext cx="5829736" cy="555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48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2569953-2A3A-6696-43EE-DF06CE39BF83}"/>
              </a:ext>
            </a:extLst>
          </p:cNvPr>
          <p:cNvSpPr txBox="1"/>
          <p:nvPr/>
        </p:nvSpPr>
        <p:spPr>
          <a:xfrm>
            <a:off x="2787667" y="802891"/>
            <a:ext cx="6292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PREGUNTA DE INVESTIGACIÓN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703EB80-EED6-EC49-F83C-FD67508E3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407" y="790140"/>
            <a:ext cx="510483" cy="51048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5299015-1314-59DF-F52E-84ABEE9E2B50}"/>
              </a:ext>
            </a:extLst>
          </p:cNvPr>
          <p:cNvSpPr txBox="1"/>
          <p:nvPr/>
        </p:nvSpPr>
        <p:spPr>
          <a:xfrm>
            <a:off x="1564919" y="1544390"/>
            <a:ext cx="8534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i="1" dirty="0">
                <a:latin typeface="Arial" panose="020B0604020202020204" pitchFamily="34" charset="0"/>
                <a:cs typeface="Arial" panose="020B0604020202020204" pitchFamily="34" charset="0"/>
              </a:rPr>
              <a:t>¿Qué tan influyentes son las características físicas y socioeconómicas de las viviendas en la predicción de su precio?</a:t>
            </a:r>
            <a:endParaRPr lang="es-CO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06EFECD-B571-8759-2140-176F9BA7E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50" y="2267329"/>
            <a:ext cx="6086566" cy="394330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6F134B7-6522-D5DA-FE0C-834A13BE883B}"/>
              </a:ext>
            </a:extLst>
          </p:cNvPr>
          <p:cNvSpPr txBox="1"/>
          <p:nvPr/>
        </p:nvSpPr>
        <p:spPr>
          <a:xfrm>
            <a:off x="7302659" y="3498196"/>
            <a:ext cx="4724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Rta: </a:t>
            </a:r>
            <a:r>
              <a:rPr lang="es-ES" sz="2000" dirty="0"/>
              <a:t>L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as características de las viviendas, especialmente el número de habitaciones y el nivel socioeconómico, influyen directamente en su precio y permiten que el modelo realice una predicción adecuada.</a:t>
            </a:r>
            <a:endParaRPr lang="es-CO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5219F8B-F929-5E72-92C5-8C6AB32C771B}"/>
              </a:ext>
            </a:extLst>
          </p:cNvPr>
          <p:cNvCxnSpPr/>
          <p:nvPr/>
        </p:nvCxnSpPr>
        <p:spPr>
          <a:xfrm>
            <a:off x="1918879" y="5239083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F153C73-753F-AFF3-9DE8-6A19EBEE7CB2}"/>
              </a:ext>
            </a:extLst>
          </p:cNvPr>
          <p:cNvSpPr/>
          <p:nvPr/>
        </p:nvSpPr>
        <p:spPr>
          <a:xfrm>
            <a:off x="1484471" y="6153483"/>
            <a:ext cx="3451123" cy="6805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/>
              <a:t>Dependiente → efecto o resultado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E8E3EDF-2352-F480-7048-D6CBE00730D5}"/>
              </a:ext>
            </a:extLst>
          </p:cNvPr>
          <p:cNvCxnSpPr/>
          <p:nvPr/>
        </p:nvCxnSpPr>
        <p:spPr>
          <a:xfrm>
            <a:off x="5692880" y="2862868"/>
            <a:ext cx="12880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728DE01-4524-6EFE-BDC9-69AD8D7E0AD7}"/>
              </a:ext>
            </a:extLst>
          </p:cNvPr>
          <p:cNvSpPr/>
          <p:nvPr/>
        </p:nvSpPr>
        <p:spPr>
          <a:xfrm>
            <a:off x="6980904" y="2551014"/>
            <a:ext cx="2889099" cy="6805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61B59514-1A81-A580-4617-580743EB5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904" y="2569918"/>
            <a:ext cx="29748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CO" altLang="es-CO" sz="1800" dirty="0">
                <a:latin typeface="Arial" panose="020B0604020202020204" pitchFamily="34" charset="0"/>
              </a:rPr>
              <a:t>I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ndependiente → causa o influye</a:t>
            </a:r>
          </a:p>
        </p:txBody>
      </p:sp>
    </p:spTree>
    <p:extLst>
      <p:ext uri="{BB962C8B-B14F-4D97-AF65-F5344CB8AC3E}">
        <p14:creationId xmlns:p14="http://schemas.microsoft.com/office/powerpoint/2010/main" val="646973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F8A5D1A-D1FB-893E-9658-32C3DD05361A}"/>
              </a:ext>
            </a:extLst>
          </p:cNvPr>
          <p:cNvSpPr txBox="1"/>
          <p:nvPr/>
        </p:nvSpPr>
        <p:spPr>
          <a:xfrm>
            <a:off x="3417503" y="481063"/>
            <a:ext cx="5358581" cy="441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ANALISIS DEL DATASET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7E15215-D939-00B3-7682-7C9EE2F8B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4" y="934063"/>
            <a:ext cx="7627904" cy="3059265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E8D6D23-FE26-E18B-7BAC-6FDD1101A5D5}"/>
              </a:ext>
            </a:extLst>
          </p:cNvPr>
          <p:cNvCxnSpPr/>
          <p:nvPr/>
        </p:nvCxnSpPr>
        <p:spPr>
          <a:xfrm>
            <a:off x="1179871" y="3972232"/>
            <a:ext cx="0" cy="8357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C2FEFE-173A-64E8-99DC-4CB0ADE91C89}"/>
              </a:ext>
            </a:extLst>
          </p:cNvPr>
          <p:cNvSpPr/>
          <p:nvPr/>
        </p:nvSpPr>
        <p:spPr>
          <a:xfrm>
            <a:off x="412954" y="4807974"/>
            <a:ext cx="1750142" cy="5112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Total de registros: 506 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AE80B8C-18C6-DAD8-E583-49D5E1F9E831}"/>
              </a:ext>
            </a:extLst>
          </p:cNvPr>
          <p:cNvCxnSpPr/>
          <p:nvPr/>
        </p:nvCxnSpPr>
        <p:spPr>
          <a:xfrm>
            <a:off x="1474839" y="3993328"/>
            <a:ext cx="1032387" cy="462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1111510-4436-3BBF-7A5D-18203068B4D0}"/>
              </a:ext>
            </a:extLst>
          </p:cNvPr>
          <p:cNvSpPr/>
          <p:nvPr/>
        </p:nvSpPr>
        <p:spPr>
          <a:xfrm>
            <a:off x="2507226" y="4291780"/>
            <a:ext cx="1750142" cy="5112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400" dirty="0">
                <a:latin typeface="Arial" panose="020B0604020202020204" pitchFamily="34" charset="0"/>
                <a:cs typeface="Arial" panose="020B0604020202020204" pitchFamily="34" charset="0"/>
              </a:rPr>
              <a:t>Total de variables: 14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5AD540E-40FE-ACA8-1785-37A7F26E7ABF}"/>
              </a:ext>
            </a:extLst>
          </p:cNvPr>
          <p:cNvSpPr/>
          <p:nvPr/>
        </p:nvSpPr>
        <p:spPr>
          <a:xfrm>
            <a:off x="1474839" y="5635318"/>
            <a:ext cx="2261419" cy="5112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600" dirty="0"/>
              <a:t>Tipos de variables: Numéricas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6AC3CD4-BD87-8886-DFA0-218A5DB86D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04" r="40570"/>
          <a:stretch>
            <a:fillRect/>
          </a:stretch>
        </p:blipFill>
        <p:spPr>
          <a:xfrm>
            <a:off x="8303143" y="1147715"/>
            <a:ext cx="3672547" cy="5229222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1BAC61B-9E84-843B-0B4A-3BD7A0E85AA9}"/>
              </a:ext>
            </a:extLst>
          </p:cNvPr>
          <p:cNvSpPr/>
          <p:nvPr/>
        </p:nvSpPr>
        <p:spPr>
          <a:xfrm>
            <a:off x="3417503" y="1147715"/>
            <a:ext cx="574394" cy="179213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32B44F-8A60-43E9-3C8B-52F46A67CC97}"/>
              </a:ext>
            </a:extLst>
          </p:cNvPr>
          <p:cNvSpPr/>
          <p:nvPr/>
        </p:nvSpPr>
        <p:spPr>
          <a:xfrm>
            <a:off x="7191729" y="1147715"/>
            <a:ext cx="574394" cy="179213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0473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02626C8-E60D-DEE7-C3D2-E62D299E4CD0}"/>
              </a:ext>
            </a:extLst>
          </p:cNvPr>
          <p:cNvSpPr txBox="1"/>
          <p:nvPr/>
        </p:nvSpPr>
        <p:spPr>
          <a:xfrm>
            <a:off x="3313471" y="487675"/>
            <a:ext cx="5220929" cy="441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VISUALIZACIONES PRINCIPALES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FF33EE-87A2-61B1-061F-60123543A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13"/>
          <a:stretch/>
        </p:blipFill>
        <p:spPr>
          <a:xfrm>
            <a:off x="59356" y="1190462"/>
            <a:ext cx="3814554" cy="246131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9FEE740-30F5-1EAC-AE20-DDF953F8D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764" y="1211395"/>
            <a:ext cx="3773727" cy="243739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310FEA0-7A11-653B-1D09-ECCC83865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483" y="1190461"/>
            <a:ext cx="4057199" cy="2572047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EF306371-56A0-D25A-5F26-7101D547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987" y="4140976"/>
            <a:ext cx="368007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mayoría tiene entre 5 y 7 habitaciones, pocos valores extremos.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una variable importante que influye directamente en el precio.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3287FF7-BE9E-C87F-BD11-054CAC6C1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4089" y="4131067"/>
            <a:ext cx="352541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mayoría tiene precios medios, pocos muy bajos o muy altos.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evidencia un límite superior que puede afectar la precisión del modelo.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86D0CAA-FED4-08DA-D918-126D20CDC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29" y="4254178"/>
            <a:ext cx="328123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Fueron generados intencionalmente para simular datos incompletos.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Muestran los valores faltantes en algunas variables.</a:t>
            </a:r>
          </a:p>
        </p:txBody>
      </p:sp>
    </p:spTree>
    <p:extLst>
      <p:ext uri="{BB962C8B-B14F-4D97-AF65-F5344CB8AC3E}">
        <p14:creationId xmlns:p14="http://schemas.microsoft.com/office/powerpoint/2010/main" val="310065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49B9-9FA4-A4B8-B4C5-CBF5C39C4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571F6CF-E80B-35D3-0387-5B75D0EA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8" y="1041252"/>
            <a:ext cx="4085940" cy="295152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1DBB701-1646-8435-213D-E1A3840D0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2"/>
          <a:stretch/>
        </p:blipFill>
        <p:spPr>
          <a:xfrm>
            <a:off x="4293084" y="1008437"/>
            <a:ext cx="4085939" cy="2839161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1B0BD57D-1E0C-72CE-5DFA-CED3D563B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03" y="4218996"/>
            <a:ext cx="376575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Muestran la relación entre el número promedio de habitaciones y los precios de las viviendas.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observa que a mayor número de habitaciones, tienden a ser más caros.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255178D-843A-5ADA-8A32-23403C7D7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3633" y="4218996"/>
            <a:ext cx="3765755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Muestran la relación entre el porcentaje de población de menor estatus socioeconómico y los precios de las viviendas.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observa que a mayor LSTAT, los precios tienden a ser más bajos.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780CAE0C-F03A-04EE-3E3A-51F27DE4A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1108" y="4111273"/>
            <a:ext cx="325525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Muestran cómo cambia la agrupación de las viviendas al variar el número de clústeres.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Permiten decidir cuántos grupos diferentes de viviendas formar según sus características.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6AB0D0B-2B40-582D-DB82-93BDBCCD5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022" y="993003"/>
            <a:ext cx="3704647" cy="297992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9B06A43-8377-3B41-BC8A-DD03B719EC42}"/>
              </a:ext>
            </a:extLst>
          </p:cNvPr>
          <p:cNvSpPr txBox="1"/>
          <p:nvPr/>
        </p:nvSpPr>
        <p:spPr>
          <a:xfrm>
            <a:off x="3313471" y="487675"/>
            <a:ext cx="5220929" cy="441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VISUALIZACIONES PRINCIPALES </a:t>
            </a:r>
          </a:p>
        </p:txBody>
      </p:sp>
    </p:spTree>
    <p:extLst>
      <p:ext uri="{BB962C8B-B14F-4D97-AF65-F5344CB8AC3E}">
        <p14:creationId xmlns:p14="http://schemas.microsoft.com/office/powerpoint/2010/main" val="2693593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5DFAB-E846-19E2-D62C-4B85FCDA4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>
            <a:extLst>
              <a:ext uri="{FF2B5EF4-FFF2-40B4-BE49-F238E27FC236}">
                <a16:creationId xmlns:a16="http://schemas.microsoft.com/office/drawing/2014/main" id="{65FA729E-735E-7574-6185-61B467D177E3}"/>
              </a:ext>
            </a:extLst>
          </p:cNvPr>
          <p:cNvSpPr txBox="1"/>
          <p:nvPr/>
        </p:nvSpPr>
        <p:spPr>
          <a:xfrm>
            <a:off x="3048794" y="450073"/>
            <a:ext cx="6096000" cy="789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 ENCONTRADAS EN EL PROCESO </a:t>
            </a:r>
          </a:p>
        </p:txBody>
      </p: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7DD93C48-7A66-7CDE-1620-6DA0C0F06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296388"/>
              </p:ext>
            </p:extLst>
          </p:nvPr>
        </p:nvGraphicFramePr>
        <p:xfrm>
          <a:off x="177773" y="1456158"/>
          <a:ext cx="5102150" cy="4708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3772">
                  <a:extLst>
                    <a:ext uri="{9D8B030D-6E8A-4147-A177-3AD203B41FA5}">
                      <a16:colId xmlns:a16="http://schemas.microsoft.com/office/drawing/2014/main" val="2435850440"/>
                    </a:ext>
                  </a:extLst>
                </a:gridCol>
                <a:gridCol w="1073772">
                  <a:extLst>
                    <a:ext uri="{9D8B030D-6E8A-4147-A177-3AD203B41FA5}">
                      <a16:colId xmlns:a16="http://schemas.microsoft.com/office/drawing/2014/main" val="885063829"/>
                    </a:ext>
                  </a:extLst>
                </a:gridCol>
                <a:gridCol w="2954606">
                  <a:extLst>
                    <a:ext uri="{9D8B030D-6E8A-4147-A177-3AD203B41FA5}">
                      <a16:colId xmlns:a16="http://schemas.microsoft.com/office/drawing/2014/main" val="3740739832"/>
                    </a:ext>
                  </a:extLst>
                </a:gridCol>
              </a:tblGrid>
              <a:tr h="222524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Hallazgo</a:t>
                      </a:r>
                      <a:endParaRPr lang="es-CO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292" marR="88292" marT="44146" marB="441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Qué muestra</a:t>
                      </a:r>
                      <a:endParaRPr lang="es-CO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292" marR="88292" marT="44146" marB="441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Importancia</a:t>
                      </a:r>
                      <a:endParaRPr lang="es-CO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292" marR="88292" marT="44146" marB="44146" anchor="ctr"/>
                </a:tc>
                <a:extLst>
                  <a:ext uri="{0D108BD9-81ED-4DB2-BD59-A6C34878D82A}">
                    <a16:rowId xmlns:a16="http://schemas.microsoft.com/office/drawing/2014/main" val="2566820246"/>
                  </a:ext>
                </a:extLst>
              </a:tr>
              <a:tr h="372595">
                <a:tc>
                  <a:txBody>
                    <a:bodyPr/>
                    <a:lstStyle/>
                    <a:p>
                      <a:pPr algn="just"/>
                      <a:r>
                        <a:rPr lang="es-C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 (habitaciones)</a:t>
                      </a:r>
                      <a:endParaRPr lang="es-CO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292" marR="88292" marT="44146" marB="4414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Relación positiva con el precio</a:t>
                      </a:r>
                    </a:p>
                  </a:txBody>
                  <a:tcPr marL="88292" marR="88292" marT="44146" marB="4414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 casas con más habitaciones suelen ser más caras</a:t>
                      </a:r>
                    </a:p>
                  </a:txBody>
                  <a:tcPr marL="88292" marR="88292" marT="44146" marB="44146" anchor="ctr"/>
                </a:tc>
                <a:extLst>
                  <a:ext uri="{0D108BD9-81ED-4DB2-BD59-A6C34878D82A}">
                    <a16:rowId xmlns:a16="http://schemas.microsoft.com/office/drawing/2014/main" val="2545271575"/>
                  </a:ext>
                </a:extLst>
              </a:tr>
              <a:tr h="522666">
                <a:tc>
                  <a:txBody>
                    <a:bodyPr/>
                    <a:lstStyle/>
                    <a:p>
                      <a:pPr algn="just"/>
                      <a:r>
                        <a:rPr lang="es-E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LSTAT (% población de menor estatus)</a:t>
                      </a:r>
                      <a:endParaRPr lang="es-E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292" marR="88292" marT="44146" marB="4414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Relación inversa con el precio</a:t>
                      </a:r>
                    </a:p>
                  </a:txBody>
                  <a:tcPr marL="88292" marR="88292" marT="44146" marB="4414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Las viviendas en áreas con mayor LSTAT tienden a ser más baratas</a:t>
                      </a:r>
                    </a:p>
                  </a:txBody>
                  <a:tcPr marL="88292" marR="88292" marT="44146" marB="44146" anchor="ctr"/>
                </a:tc>
                <a:extLst>
                  <a:ext uri="{0D108BD9-81ED-4DB2-BD59-A6C34878D82A}">
                    <a16:rowId xmlns:a16="http://schemas.microsoft.com/office/drawing/2014/main" val="1459095891"/>
                  </a:ext>
                </a:extLst>
              </a:tr>
              <a:tr h="582738">
                <a:tc>
                  <a:txBody>
                    <a:bodyPr/>
                    <a:lstStyle/>
                    <a:p>
                      <a:pPr algn="just"/>
                      <a:r>
                        <a:rPr lang="es-CO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Valores extremos</a:t>
                      </a:r>
                      <a:endParaRPr lang="es-CO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292" marR="88292" marT="44146" marB="4414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Precios y habitaciones fuera de lo común</a:t>
                      </a:r>
                    </a:p>
                  </a:txBody>
                  <a:tcPr marL="88292" marR="88292" marT="44146" marB="4414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Pueden afectar la predicción del modelo</a:t>
                      </a:r>
                    </a:p>
                  </a:txBody>
                  <a:tcPr marL="88292" marR="88292" marT="44146" marB="44146" anchor="ctr"/>
                </a:tc>
                <a:extLst>
                  <a:ext uri="{0D108BD9-81ED-4DB2-BD59-A6C34878D82A}">
                    <a16:rowId xmlns:a16="http://schemas.microsoft.com/office/drawing/2014/main" val="830846102"/>
                  </a:ext>
                </a:extLst>
              </a:tr>
              <a:tr h="672738">
                <a:tc>
                  <a:txBody>
                    <a:bodyPr/>
                    <a:lstStyle/>
                    <a:p>
                      <a:pPr algn="just"/>
                      <a:r>
                        <a:rPr lang="es-CO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Distribución de MEDV</a:t>
                      </a:r>
                      <a:endParaRPr lang="es-CO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292" marR="88292" marT="44146" marB="4414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mayoría de los precios se concentran en valores medios</a:t>
                      </a:r>
                    </a:p>
                  </a:txBody>
                  <a:tcPr marL="88292" marR="88292" marT="44146" marB="4414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Permite ver la tendencia general de los precios</a:t>
                      </a:r>
                    </a:p>
                  </a:txBody>
                  <a:tcPr marL="88292" marR="88292" marT="44146" marB="44146" anchor="ctr"/>
                </a:tc>
                <a:extLst>
                  <a:ext uri="{0D108BD9-81ED-4DB2-BD59-A6C34878D82A}">
                    <a16:rowId xmlns:a16="http://schemas.microsoft.com/office/drawing/2014/main" val="2233403118"/>
                  </a:ext>
                </a:extLst>
              </a:tr>
            </a:tbl>
          </a:graphicData>
        </a:graphic>
      </p:graphicFrame>
      <p:pic>
        <p:nvPicPr>
          <p:cNvPr id="21" name="Imagen 20">
            <a:extLst>
              <a:ext uri="{FF2B5EF4-FFF2-40B4-BE49-F238E27FC236}">
                <a16:creationId xmlns:a16="http://schemas.microsoft.com/office/drawing/2014/main" id="{63555C45-A4A1-C411-8463-FA8F6CEDE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923" y="1456158"/>
            <a:ext cx="4375754" cy="386430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8B29B689-19DA-260A-35DB-58E522CD3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266" y="4388926"/>
            <a:ext cx="3355322" cy="229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449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E3881-68AC-A652-A4A6-37DFCB9B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FE90C4-8207-0646-64AD-A0A9E885DFBC}"/>
              </a:ext>
            </a:extLst>
          </p:cNvPr>
          <p:cNvSpPr txBox="1"/>
          <p:nvPr/>
        </p:nvSpPr>
        <p:spPr>
          <a:xfrm>
            <a:off x="3205317" y="452923"/>
            <a:ext cx="447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800" b="1" dirty="0">
                <a:latin typeface="Arial" panose="020B0604020202020204" pitchFamily="34" charset="0"/>
                <a:cs typeface="Arial" panose="020B0604020202020204" pitchFamily="34" charset="0"/>
              </a:rPr>
              <a:t>PREDICCIÓN Y HALLAZGOS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8FEF9D-1E17-54D5-F8A4-6C48A4001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97" y="1654455"/>
            <a:ext cx="3543133" cy="23028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856DF68-2AB0-2B32-B392-F0BB9B6E8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777" y="4970829"/>
            <a:ext cx="5997937" cy="128340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A2B6960-4FC4-B968-2960-0BA8F3CC2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8" y="4175918"/>
            <a:ext cx="4215510" cy="2461987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2FA1C1D6-D98C-079C-0D12-D2B13BCC4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129157"/>
              </p:ext>
            </p:extLst>
          </p:nvPr>
        </p:nvGraphicFramePr>
        <p:xfrm>
          <a:off x="4416000" y="965692"/>
          <a:ext cx="7453123" cy="364266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81025">
                  <a:extLst>
                    <a:ext uri="{9D8B030D-6E8A-4147-A177-3AD203B41FA5}">
                      <a16:colId xmlns:a16="http://schemas.microsoft.com/office/drawing/2014/main" val="2843444880"/>
                    </a:ext>
                  </a:extLst>
                </a:gridCol>
                <a:gridCol w="1102437">
                  <a:extLst>
                    <a:ext uri="{9D8B030D-6E8A-4147-A177-3AD203B41FA5}">
                      <a16:colId xmlns:a16="http://schemas.microsoft.com/office/drawing/2014/main" val="3404955435"/>
                    </a:ext>
                  </a:extLst>
                </a:gridCol>
                <a:gridCol w="1288413">
                  <a:extLst>
                    <a:ext uri="{9D8B030D-6E8A-4147-A177-3AD203B41FA5}">
                      <a16:colId xmlns:a16="http://schemas.microsoft.com/office/drawing/2014/main" val="3344462424"/>
                    </a:ext>
                  </a:extLst>
                </a:gridCol>
                <a:gridCol w="1490624">
                  <a:extLst>
                    <a:ext uri="{9D8B030D-6E8A-4147-A177-3AD203B41FA5}">
                      <a16:colId xmlns:a16="http://schemas.microsoft.com/office/drawing/2014/main" val="1289163670"/>
                    </a:ext>
                  </a:extLst>
                </a:gridCol>
                <a:gridCol w="1490624">
                  <a:extLst>
                    <a:ext uri="{9D8B030D-6E8A-4147-A177-3AD203B41FA5}">
                      <a16:colId xmlns:a16="http://schemas.microsoft.com/office/drawing/2014/main" val="2496801966"/>
                    </a:ext>
                  </a:extLst>
                </a:gridCol>
              </a:tblGrid>
              <a:tr h="322762"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División (Entrenamiento-Prueba)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MSE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RMSE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R²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Interpretación sencilla</a:t>
                      </a:r>
                    </a:p>
                  </a:txBody>
                  <a:tcPr marL="41986" marR="41986" marT="20993" marB="20993" anchor="ctr"/>
                </a:tc>
                <a:extLst>
                  <a:ext uri="{0D108BD9-81ED-4DB2-BD59-A6C34878D82A}">
                    <a16:rowId xmlns:a16="http://schemas.microsoft.com/office/drawing/2014/main" val="2440111918"/>
                  </a:ext>
                </a:extLst>
              </a:tr>
              <a:tr h="975593"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70%-30% (test_size=0.3)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0.081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0.28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-0.16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E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Error más bajo, predicción algo mejor que con otras divisiones, pero R² negativo indica que el modelo no explica bien los precios.</a:t>
                      </a:r>
                    </a:p>
                  </a:txBody>
                  <a:tcPr marL="41986" marR="41986" marT="20993" marB="20993" anchor="ctr"/>
                </a:tc>
                <a:extLst>
                  <a:ext uri="{0D108BD9-81ED-4DB2-BD59-A6C34878D82A}">
                    <a16:rowId xmlns:a16="http://schemas.microsoft.com/office/drawing/2014/main" val="1995458615"/>
                  </a:ext>
                </a:extLst>
              </a:tr>
              <a:tr h="717460"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80%-20% (test_size=0.2)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0.089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0.30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-0.10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E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Error ligeramente mayor, R² negativo aún indica predicción deficiente.</a:t>
                      </a:r>
                    </a:p>
                  </a:txBody>
                  <a:tcPr marL="41986" marR="41986" marT="20993" marB="20993" anchor="ctr"/>
                </a:tc>
                <a:extLst>
                  <a:ext uri="{0D108BD9-81ED-4DB2-BD59-A6C34878D82A}">
                    <a16:rowId xmlns:a16="http://schemas.microsoft.com/office/drawing/2014/main" val="2949952657"/>
                  </a:ext>
                </a:extLst>
              </a:tr>
              <a:tr h="816134"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90%-10% (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test_size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=0.1)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0.121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CO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-0.22</a:t>
                      </a:r>
                    </a:p>
                  </a:txBody>
                  <a:tcPr marL="41986" marR="41986" marT="20993" marB="20993" anchor="ctr"/>
                </a:tc>
                <a:tc>
                  <a:txBody>
                    <a:bodyPr/>
                    <a:lstStyle/>
                    <a:p>
                      <a:pPr marL="0" algn="just" defTabSz="549164" rtl="0" eaLnBrk="1" latinLnBrk="0" hangingPunct="1"/>
                      <a:r>
                        <a:rPr lang="es-E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Mayor error, peor desempeño; modelo menos confiable con muy pocos datos de prueba.</a:t>
                      </a:r>
                    </a:p>
                  </a:txBody>
                  <a:tcPr marL="41986" marR="41986" marT="20993" marB="20993" anchor="ctr"/>
                </a:tc>
                <a:extLst>
                  <a:ext uri="{0D108BD9-81ED-4DB2-BD59-A6C34878D82A}">
                    <a16:rowId xmlns:a16="http://schemas.microsoft.com/office/drawing/2014/main" val="1611253848"/>
                  </a:ext>
                </a:extLst>
              </a:tr>
            </a:tbl>
          </a:graphicData>
        </a:graphic>
      </p:graphicFrame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BC95A77-411C-075B-B513-6ECE2F9AD5D5}"/>
              </a:ext>
            </a:extLst>
          </p:cNvPr>
          <p:cNvCxnSpPr>
            <a:cxnSpLocks/>
          </p:cNvCxnSpPr>
          <p:nvPr/>
        </p:nvCxnSpPr>
        <p:spPr>
          <a:xfrm flipH="1">
            <a:off x="8927690" y="730884"/>
            <a:ext cx="147484" cy="427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FCBEB09-8C55-A834-4A7F-CB041FFD354C}"/>
              </a:ext>
            </a:extLst>
          </p:cNvPr>
          <p:cNvSpPr/>
          <p:nvPr/>
        </p:nvSpPr>
        <p:spPr>
          <a:xfrm>
            <a:off x="8563897" y="361552"/>
            <a:ext cx="175997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/>
              <a:t>MÉTRICAS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7C2422E-2287-D100-75FB-04BF955F63B4}"/>
              </a:ext>
            </a:extLst>
          </p:cNvPr>
          <p:cNvSpPr/>
          <p:nvPr/>
        </p:nvSpPr>
        <p:spPr>
          <a:xfrm>
            <a:off x="1002892" y="701805"/>
            <a:ext cx="1759973" cy="4274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dirty="0"/>
              <a:t>PREDICCIÓN  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C6104663-B73F-15AD-9DC2-2B47028D7920}"/>
              </a:ext>
            </a:extLst>
          </p:cNvPr>
          <p:cNvCxnSpPr>
            <a:cxnSpLocks/>
          </p:cNvCxnSpPr>
          <p:nvPr/>
        </p:nvCxnSpPr>
        <p:spPr>
          <a:xfrm>
            <a:off x="1495364" y="1143829"/>
            <a:ext cx="195784" cy="496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4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C1652-5659-AEDB-4F65-843A8D977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2D9E0E7-D8DA-9707-A5F5-95218217A294}"/>
              </a:ext>
            </a:extLst>
          </p:cNvPr>
          <p:cNvSpPr txBox="1"/>
          <p:nvPr/>
        </p:nvSpPr>
        <p:spPr>
          <a:xfrm>
            <a:off x="2792360" y="640530"/>
            <a:ext cx="5063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LIMITACIONES Y RESTRICCIONES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B9C40CA-C6E1-4FE0-9ABF-38F4D0755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237" y="1433996"/>
            <a:ext cx="646573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RM y LSTAT son las variables que más influyen en la predicción de los precios de las viviendas.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 división 70%-30% del dataset produjo el error más bajo, mostrando que el tamaño del conjunto de entrenamiento y prueba afecta la precisión.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El modelo logra predecir los precios con cierta aproximación, aunque el R² negativo indica que no explica completamente la variabilidad.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El dataset es local e histórico, por lo que los resultados no se pueden generalizar a otras ciudades o contextos.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 Se recomienda explorar más variables o modelos más complejos para mejorar la precisión de las predicciones.</a:t>
            </a:r>
            <a:endParaRPr lang="es-CO" altLang="es-CO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A26784-23F5-9484-7699-11060521D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38" y="1579182"/>
            <a:ext cx="502949" cy="50294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04410EB-A9E4-EA86-E40C-8AC2C7877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" y="2453146"/>
            <a:ext cx="502949" cy="50294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9753959-EFA5-E37B-43D8-9C22FDF4D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39" y="3429000"/>
            <a:ext cx="502948" cy="50294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0D1FB80-100F-9809-39FA-D3468BB29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37" y="4524396"/>
            <a:ext cx="502948" cy="50294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177616E-4B59-4D49-779E-86AACFAD70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339" y="5364451"/>
            <a:ext cx="502948" cy="50294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99C1792-965B-BDC6-EB92-DD6F03AEDE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5194" y="1876006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693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</TotalTime>
  <Words>592</Words>
  <Application>Microsoft Office PowerPoint</Application>
  <PresentationFormat>Personalizado</PresentationFormat>
  <Paragraphs>90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Aptos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Katherine Bello</dc:creator>
  <cp:lastModifiedBy>JULIAN QUIMBAYO CASTRO</cp:lastModifiedBy>
  <cp:revision>15</cp:revision>
  <dcterms:created xsi:type="dcterms:W3CDTF">2020-08-21T13:03:05Z</dcterms:created>
  <dcterms:modified xsi:type="dcterms:W3CDTF">2025-12-14T15:00:44Z</dcterms:modified>
</cp:coreProperties>
</file>